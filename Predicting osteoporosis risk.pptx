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92" r:id="rId6"/>
    <p:sldId id="266" r:id="rId7"/>
    <p:sldId id="295" r:id="rId8"/>
    <p:sldId id="293" r:id="rId9"/>
    <p:sldId id="283" r:id="rId10"/>
    <p:sldId id="264" r:id="rId11"/>
    <p:sldId id="289" r:id="rId12"/>
    <p:sldId id="287" r:id="rId13"/>
    <p:sldId id="297" r:id="rId14"/>
    <p:sldId id="268" r:id="rId15"/>
    <p:sldId id="296" r:id="rId16"/>
    <p:sldId id="285" r:id="rId17"/>
    <p:sldId id="294" r:id="rId18"/>
    <p:sldId id="29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howGuides="1">
      <p:cViewPr varScale="1">
        <p:scale>
          <a:sx n="81" d="100"/>
          <a:sy n="81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7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2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8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023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D157-945B-8756-8165-E2410923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06B24-5629-C13E-EC95-942FB12AB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DD342-35B1-9832-4CD2-0918A648B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7EA94-3F4D-98AE-23AD-BEFC8A93E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72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70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07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19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464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6468-BFB1-72B7-AB8C-ECF6C639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271C4-8978-57FC-E2FF-EFDEF9896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98521-0BDF-F83C-1647-F53A9F7E5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62E1F-9E44-58C9-603F-5D0E7763E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66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34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3000"/>
            <a:ext cx="9144000" cy="2585720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052320"/>
          </a:xfrm>
        </p:spPr>
        <p:txBody>
          <a:bodyPr anchor="t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85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338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33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5444"/>
            <a:ext cx="11277600" cy="1044253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245360"/>
            <a:ext cx="3342640" cy="3992880"/>
          </a:xfrm>
        </p:spPr>
        <p:txBody>
          <a:bodyPr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36720" y="2236109"/>
            <a:ext cx="7498080" cy="4002131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90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91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826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1062716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7201" y="2234979"/>
            <a:ext cx="11272648" cy="396960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71548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264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>
            <a:noAutofit/>
          </a:bodyPr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to add text 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23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  <p:sldLayoutId id="2147483819" r:id="rId20"/>
    <p:sldLayoutId id="2147483820" r:id="rId21"/>
    <p:sldLayoutId id="2147483821" r:id="rId22"/>
    <p:sldLayoutId id="2147483822" r:id="rId2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070900"/>
            <a:ext cx="11265407" cy="2567845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ookman Old Style" panose="02050604050505020204" pitchFamily="18" charset="0"/>
              </a:rPr>
              <a:t>Predicting osteoporosis risk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3800B-588B-7ADA-06D3-FF9D6085D748}"/>
              </a:ext>
            </a:extLst>
          </p:cNvPr>
          <p:cNvSpPr txBox="1"/>
          <p:nvPr/>
        </p:nvSpPr>
        <p:spPr>
          <a:xfrm>
            <a:off x="9375332" y="5109328"/>
            <a:ext cx="23472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Presented by </a:t>
            </a:r>
          </a:p>
          <a:p>
            <a:r>
              <a:rPr lang="en-IN" dirty="0">
                <a:latin typeface="Georgia" panose="02040502050405020303" pitchFamily="18" charset="0"/>
              </a:rPr>
              <a:t>	</a:t>
            </a:r>
            <a:r>
              <a:rPr lang="en-IN" dirty="0">
                <a:solidFill>
                  <a:srgbClr val="002060"/>
                </a:solidFill>
                <a:latin typeface="Georgia" panose="02040502050405020303" pitchFamily="18" charset="0"/>
              </a:rPr>
              <a:t>SHIBIYA P</a:t>
            </a:r>
          </a:p>
          <a:p>
            <a:r>
              <a:rPr lang="en-IN" dirty="0">
                <a:solidFill>
                  <a:srgbClr val="002060"/>
                </a:solidFill>
                <a:latin typeface="Georgia" panose="02040502050405020303" pitchFamily="18" charset="0"/>
              </a:rPr>
              <a:t>	NASHIDA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29" y="611800"/>
            <a:ext cx="11128342" cy="76451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OBJECTIVE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10559" y="1673551"/>
            <a:ext cx="9770882" cy="35108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osteoporosis risk using demographic, lifestyle, and health related factors.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and factors associated with osteoporosis risk.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machine learning classification models.</a:t>
            </a:r>
          </a:p>
          <a:p>
            <a:pPr marL="285750" indent="-285750">
              <a:lnSpc>
                <a:spcPct val="150000"/>
              </a:lnSpc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and evaluate a tuned model for reliable risk prediction.</a:t>
            </a:r>
          </a:p>
        </p:txBody>
      </p:sp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68E91FE-1E96-9012-B0A7-9E9605A1D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580" y="671834"/>
            <a:ext cx="11292839" cy="6856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6CA0F-2626-97E3-26C8-DA7F4B57BFBC}"/>
              </a:ext>
            </a:extLst>
          </p:cNvPr>
          <p:cNvSpPr txBox="1"/>
          <p:nvPr/>
        </p:nvSpPr>
        <p:spPr>
          <a:xfrm>
            <a:off x="995863" y="1745237"/>
            <a:ext cx="10746556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: 1958 records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features : 16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: Osteoporosis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categories 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:  Age, Gender, Race/Ethnicity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Lifestyle : Physical Activity, Smoking, Alcohol Consumption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Health-related : Family History, Calcium Intake, Vitamin D Intake, Prior Fractures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: Medical Conditions, Medications, Hormonal Changes, Body Weight</a:t>
            </a:r>
          </a:p>
        </p:txBody>
      </p:sp>
    </p:spTree>
    <p:extLst>
      <p:ext uri="{BB962C8B-B14F-4D97-AF65-F5344CB8AC3E}">
        <p14:creationId xmlns:p14="http://schemas.microsoft.com/office/powerpoint/2010/main" val="172184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11261782" cy="68040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Data cleaning &amp;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448" y="1517715"/>
            <a:ext cx="10869104" cy="5260157"/>
          </a:xfrm>
        </p:spPr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 Data Cleaning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Checked dataset structure and data types.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Identified missing values and replaced it with “Unknown” where appropriate.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Checked for duplicates.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Investigated repeated IDs.</a:t>
            </a:r>
          </a:p>
          <a:p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Feature Preparation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ID because it is an identifier, not a predictive feature.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Age Group because it was created only for EDA.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 features (X) and target (y) .</a:t>
            </a:r>
          </a:p>
          <a:p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 Encoding &amp; Splitting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One-Hot Encoding to categorical variables.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data into 80% training(1566 records) and 20% testing (392 records).</a:t>
            </a:r>
          </a:p>
          <a:p>
            <a:pPr marL="342900" indent="-34290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stratified splitting to maintain class balance.</a:t>
            </a:r>
          </a:p>
          <a:p>
            <a:r>
              <a:rPr lang="en-US" sz="1600" dirty="0"/>
              <a:t>		 	</a:t>
            </a:r>
          </a:p>
        </p:txBody>
      </p:sp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53367"/>
            <a:ext cx="11257279" cy="69466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Exploratory data analysis (EDA)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7CE79-946B-ADCE-FCA0-6B5BB2366425}"/>
              </a:ext>
            </a:extLst>
          </p:cNvPr>
          <p:cNvSpPr txBox="1"/>
          <p:nvPr/>
        </p:nvSpPr>
        <p:spPr>
          <a:xfrm>
            <a:off x="810705" y="1451727"/>
            <a:ext cx="1070885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ranged from 18 to 90 years.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age : 39.1 years.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 proportion of the dataset is in the 18-29 age group.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Distribution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979 records without osteoporosis.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979 records with osteoporosis.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classes were perfectly balanced.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dataset pattern 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strong relationship was observed between age and the target variable. In this dataset , all records aged 40 years and above were labelled as having osteoporosis.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03843E-1FAB-AFBB-BDC9-440FCC8CF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8093"/>
            <a:ext cx="9144000" cy="662233"/>
          </a:xfrm>
          <a:noFill/>
        </p:spPr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Georgia" panose="02040502050405020303" pitchFamily="18" charset="0"/>
              </a:rPr>
              <a:t>Exploratory data analysis (EDA)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3F314-E62F-2711-C314-A81827D9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6" y="2097464"/>
            <a:ext cx="3713263" cy="33276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C74011-0C5F-FFD4-7A59-539B60061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368" y="2111604"/>
            <a:ext cx="3713263" cy="332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D421E-6528-3D42-2EC5-F4043EDD2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901" y="2097464"/>
            <a:ext cx="3713263" cy="332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F0FD1A0-C075-EE18-B3AE-363C242D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56288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Machine learning models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C69167C3-302B-24DE-9CF7-D85D5D5DD20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30576" y="1621410"/>
            <a:ext cx="11166049" cy="45457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trained and evaluated to predict osteoporosis risk.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: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BA544F6-BF8C-2C87-3906-146BEDB4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1596"/>
            <a:ext cx="11267440" cy="61274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Model performance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1651AB-F062-8284-EB81-FB4D40F2C756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3101087010"/>
              </p:ext>
            </p:extLst>
          </p:nvPr>
        </p:nvGraphicFramePr>
        <p:xfrm>
          <a:off x="457199" y="1583702"/>
          <a:ext cx="10788980" cy="25075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57796">
                  <a:extLst>
                    <a:ext uri="{9D8B030D-6E8A-4147-A177-3AD203B41FA5}">
                      <a16:colId xmlns:a16="http://schemas.microsoft.com/office/drawing/2014/main" val="1583534293"/>
                    </a:ext>
                  </a:extLst>
                </a:gridCol>
                <a:gridCol w="2157796">
                  <a:extLst>
                    <a:ext uri="{9D8B030D-6E8A-4147-A177-3AD203B41FA5}">
                      <a16:colId xmlns:a16="http://schemas.microsoft.com/office/drawing/2014/main" val="1836252738"/>
                    </a:ext>
                  </a:extLst>
                </a:gridCol>
                <a:gridCol w="2157796">
                  <a:extLst>
                    <a:ext uri="{9D8B030D-6E8A-4147-A177-3AD203B41FA5}">
                      <a16:colId xmlns:a16="http://schemas.microsoft.com/office/drawing/2014/main" val="3052696466"/>
                    </a:ext>
                  </a:extLst>
                </a:gridCol>
                <a:gridCol w="2157796">
                  <a:extLst>
                    <a:ext uri="{9D8B030D-6E8A-4147-A177-3AD203B41FA5}">
                      <a16:colId xmlns:a16="http://schemas.microsoft.com/office/drawing/2014/main" val="306126788"/>
                    </a:ext>
                  </a:extLst>
                </a:gridCol>
                <a:gridCol w="2157796">
                  <a:extLst>
                    <a:ext uri="{9D8B030D-6E8A-4147-A177-3AD203B41FA5}">
                      <a16:colId xmlns:a16="http://schemas.microsoft.com/office/drawing/2014/main" val="3096032722"/>
                    </a:ext>
                  </a:extLst>
                </a:gridCol>
              </a:tblGrid>
              <a:tr h="50135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545715"/>
                  </a:ext>
                </a:extLst>
              </a:tr>
              <a:tr h="50209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601645"/>
                  </a:ext>
                </a:extLst>
              </a:tr>
              <a:tr h="50135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81.4 %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788751"/>
                  </a:ext>
                </a:extLst>
              </a:tr>
              <a:tr h="50135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80.4 %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995541"/>
                  </a:ext>
                </a:extLst>
              </a:tr>
              <a:tr h="50135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8401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8EA88DE-6D3D-8531-08FD-0E7FF4BDE4A5}"/>
              </a:ext>
            </a:extLst>
          </p:cNvPr>
          <p:cNvSpPr txBox="1"/>
          <p:nvPr/>
        </p:nvSpPr>
        <p:spPr>
          <a:xfrm>
            <a:off x="457199" y="4430596"/>
            <a:ext cx="10788980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achieved the highest initial test accuracy : 83.4 %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highest initial ROC-AUC : 88.6 %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achieved the highest initial recall : 79.1 % </a:t>
            </a:r>
          </a:p>
        </p:txBody>
      </p:sp>
    </p:spTree>
    <p:extLst>
      <p:ext uri="{BB962C8B-B14F-4D97-AF65-F5344CB8AC3E}">
        <p14:creationId xmlns:p14="http://schemas.microsoft.com/office/powerpoint/2010/main" val="267690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79" y="688158"/>
            <a:ext cx="11320019" cy="64102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Cross-validation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" y="1621410"/>
            <a:ext cx="11320021" cy="480250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5-Fold Cross-validation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AA0C8-2810-E998-5879-B077D16F9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647348"/>
              </p:ext>
            </p:extLst>
          </p:nvPr>
        </p:nvGraphicFramePr>
        <p:xfrm>
          <a:off x="2032000" y="2187018"/>
          <a:ext cx="8128000" cy="278090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911157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9151404"/>
                    </a:ext>
                  </a:extLst>
                </a:gridCol>
              </a:tblGrid>
              <a:tr h="5561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Accuracy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157726"/>
                  </a:ext>
                </a:extLst>
              </a:tr>
              <a:tr h="5561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82.70 %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446598"/>
                  </a:ext>
                </a:extLst>
              </a:tr>
              <a:tr h="5561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890158"/>
                  </a:ext>
                </a:extLst>
              </a:tr>
              <a:tr h="5561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86.08 %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987668"/>
                  </a:ext>
                </a:extLst>
              </a:tr>
              <a:tr h="55618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87.29 %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34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D7E38-7B75-E01F-E6D6-2EE4E1F3E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1AFFD569-9220-DD48-8596-2F1D94611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79" y="688157"/>
            <a:ext cx="11320019" cy="669303"/>
          </a:xfrm>
        </p:spPr>
        <p:txBody>
          <a:bodyPr/>
          <a:lstStyle/>
          <a:p>
            <a:pPr algn="ctr"/>
            <a:r>
              <a:rPr lang="en-US" dirty="0" err="1">
                <a:solidFill>
                  <a:srgbClr val="002060"/>
                </a:solidFill>
                <a:latin typeface="Georgia" panose="02040502050405020303" pitchFamily="18" charset="0"/>
              </a:rPr>
              <a:t>Knn</a:t>
            </a:r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 hyper parameter tuning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202CCC7-8EFE-6971-C3A7-EFD2B5F8D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779" y="1621410"/>
            <a:ext cx="11320021" cy="4802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5-fold cross-validation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tested: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neighbors :3,5,7,9,11,15,20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: Uniform, Distance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Metric : Euclidean, Manhattan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Parameters: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Neighbors : 15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: Uniform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 : Euclidean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CV Accuracy : 88.44 %</a:t>
            </a:r>
          </a:p>
        </p:txBody>
      </p:sp>
    </p:spTree>
    <p:extLst>
      <p:ext uri="{BB962C8B-B14F-4D97-AF65-F5344CB8AC3E}">
        <p14:creationId xmlns:p14="http://schemas.microsoft.com/office/powerpoint/2010/main" val="2199841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6A93E959-E68D-08C8-9C1E-5A318B3EF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725445"/>
            <a:ext cx="11277600" cy="60373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Final model - tuned </a:t>
            </a:r>
            <a:r>
              <a:rPr lang="en-US" dirty="0" err="1">
                <a:solidFill>
                  <a:srgbClr val="002060"/>
                </a:solidFill>
                <a:latin typeface="Georgia" panose="02040502050405020303" pitchFamily="18" charset="0"/>
              </a:rPr>
              <a:t>knn</a:t>
            </a:r>
            <a:endParaRPr lang="en-US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C1675C6-9CE1-3D87-365F-B3DB1F59C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7040" y="1574276"/>
            <a:ext cx="11277600" cy="477939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 : K-Nearest Neighbors (KNN)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BD8C79-D903-CC8E-56FA-4F9095296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550874"/>
              </p:ext>
            </p:extLst>
          </p:nvPr>
        </p:nvGraphicFramePr>
        <p:xfrm>
          <a:off x="1079160" y="2539040"/>
          <a:ext cx="4558069" cy="313589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53051">
                  <a:extLst>
                    <a:ext uri="{9D8B030D-6E8A-4147-A177-3AD203B41FA5}">
                      <a16:colId xmlns:a16="http://schemas.microsoft.com/office/drawing/2014/main" val="4228570576"/>
                    </a:ext>
                  </a:extLst>
                </a:gridCol>
                <a:gridCol w="1605018">
                  <a:extLst>
                    <a:ext uri="{9D8B030D-6E8A-4147-A177-3AD203B41FA5}">
                      <a16:colId xmlns:a16="http://schemas.microsoft.com/office/drawing/2014/main" val="2137384755"/>
                    </a:ext>
                  </a:extLst>
                </a:gridCol>
              </a:tblGrid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112041"/>
                  </a:ext>
                </a:extLst>
              </a:tr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258755"/>
                  </a:ext>
                </a:extLst>
              </a:tr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75258"/>
                  </a:ext>
                </a:extLst>
              </a:tr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403239"/>
                  </a:ext>
                </a:extLst>
              </a:tr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10253"/>
                  </a:ext>
                </a:extLst>
              </a:tr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87.63 %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48546"/>
                  </a:ext>
                </a:extLst>
              </a:tr>
              <a:tr h="44798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5-Fold CV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88.44 %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85858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2AFDD34-46A0-A586-4596-F2308AB20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592" y="2243721"/>
            <a:ext cx="4456248" cy="362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32C6-AEE4-A451-A3C8-7C2C8E2A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5715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key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443D9-BCAD-2F33-9DE7-54605EFCC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659118"/>
            <a:ext cx="11267440" cy="4508002"/>
          </a:xfrm>
        </p:spPr>
        <p:txBody>
          <a:bodyPr/>
          <a:lstStyle/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was the most influential feature in the Random Forest model.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accounted for approximately 64.6 % of the model’s feature importance.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individual features had much smaller important values.</a:t>
            </a: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finding is consistent with the strong age-target relationship observed during EDA.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indicates how the Random Forest model used the features. It does not prove that a feature causes osteoporosis.</a:t>
            </a:r>
          </a:p>
        </p:txBody>
      </p:sp>
    </p:spTree>
    <p:extLst>
      <p:ext uri="{BB962C8B-B14F-4D97-AF65-F5344CB8AC3E}">
        <p14:creationId xmlns:p14="http://schemas.microsoft.com/office/powerpoint/2010/main" val="37047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9B3A9A-92AD-EA07-A6E0-F4460905E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05124"/>
            <a:ext cx="11272649" cy="614629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002060"/>
                </a:solidFill>
                <a:latin typeface="Georgia" panose="02040502050405020303" pitchFamily="18" charset="0"/>
              </a:rPr>
              <a:t>Limitations &amp; potential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F98EE-CE9A-B04A-DEC7-C933E2C481BD}"/>
              </a:ext>
            </a:extLst>
          </p:cNvPr>
          <p:cNvSpPr txBox="1"/>
          <p:nvPr/>
        </p:nvSpPr>
        <p:spPr>
          <a:xfrm>
            <a:off x="542041" y="1526603"/>
            <a:ext cx="5057482" cy="46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age-target relationship : All records aged 40 + were labelled as having osteoporosis.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: Only 1958 records were available.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 : Results may not represent other populations or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: The final KNN model had 71 % recall , meaning some actual osteoporosis cases were missed.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validation : The model has not been clinically validated.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0AB71-E0CE-EA00-4AC4-A12C6D6AA8F1}"/>
              </a:ext>
            </a:extLst>
          </p:cNvPr>
          <p:cNvSpPr txBox="1"/>
          <p:nvPr/>
        </p:nvSpPr>
        <p:spPr>
          <a:xfrm>
            <a:off x="6411798" y="1526603"/>
            <a:ext cx="5407843" cy="295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Healthcare Application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early risk identification.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identify individuals who may need further assessment.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preventive follow-up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 serve as a decision-support tool after proper validation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045D6AF-532B-394C-0C6F-38B6628C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520" y="651728"/>
            <a:ext cx="3672970" cy="62089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Georgia" panose="02040502050405020303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B25D-9615-9332-C32E-4F458417E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160" y="1395167"/>
            <a:ext cx="10859679" cy="4920791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end-to-end machine learning classification model for osteoporosis risk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cleaning, EDA, preprocessing, encoding and model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Compared four models : Logistic Regression, Decision Tree, Random Forest and KNN.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5-fold cross-validation and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improve model evaluation and tune KNN.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Tuned KNN as the final model.</a:t>
            </a: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model Performance: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85.2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83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87.6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ROC-AUC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88.4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5-Fold CV Accuracy</a:t>
            </a:r>
          </a:p>
        </p:txBody>
      </p:sp>
    </p:spTree>
    <p:extLst>
      <p:ext uri="{BB962C8B-B14F-4D97-AF65-F5344CB8AC3E}">
        <p14:creationId xmlns:p14="http://schemas.microsoft.com/office/powerpoint/2010/main" val="277095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5D02C-E7E0-A73D-9F3A-904823BC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A3C16848-FC18-98E5-422C-9319C2664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329" y="3073138"/>
            <a:ext cx="3596155" cy="666307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876423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 design</Template>
  <TotalTime>329</TotalTime>
  <Words>833</Words>
  <Application>Microsoft Office PowerPoint</Application>
  <PresentationFormat>Widescreen</PresentationFormat>
  <Paragraphs>179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Bookman Old Style</vt:lpstr>
      <vt:lpstr>Calibri</vt:lpstr>
      <vt:lpstr>Courier New</vt:lpstr>
      <vt:lpstr>Georgia</vt:lpstr>
      <vt:lpstr>Gill Sans MT</vt:lpstr>
      <vt:lpstr>Times New Roman</vt:lpstr>
      <vt:lpstr>Wingdings</vt:lpstr>
      <vt:lpstr>Wingdings 2</vt:lpstr>
      <vt:lpstr>DividendVTI</vt:lpstr>
      <vt:lpstr>Predicting osteoporosis risk </vt:lpstr>
      <vt:lpstr>OBJECTIVE</vt:lpstr>
      <vt:lpstr>Dataset overview</vt:lpstr>
      <vt:lpstr>Data cleaning &amp; preprocessing</vt:lpstr>
      <vt:lpstr>Exploratory data analysis (EDA)</vt:lpstr>
      <vt:lpstr>Exploratory data analysis (EDA)</vt:lpstr>
      <vt:lpstr>Machine learning models</vt:lpstr>
      <vt:lpstr>Model performance comparison</vt:lpstr>
      <vt:lpstr>Cross-validation</vt:lpstr>
      <vt:lpstr>Knn hyper parameter tuning</vt:lpstr>
      <vt:lpstr>Final model - tuned knn</vt:lpstr>
      <vt:lpstr>key findings</vt:lpstr>
      <vt:lpstr>Limitations &amp; potential 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Shibiya Pavil</dc:creator>
  <cp:lastModifiedBy>Shibiya Pavil</cp:lastModifiedBy>
  <cp:revision>1</cp:revision>
  <dcterms:created xsi:type="dcterms:W3CDTF">2026-09-25T05:15:01Z</dcterms:created>
  <dcterms:modified xsi:type="dcterms:W3CDTF">2026-09-25T10:44:03Z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